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50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234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cứu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pháp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động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dựa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Git-friendly workflow </a:t>
            </a:r>
            <a:r>
              <a:rPr lang="en-US" sz="28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</a:t>
            </a:r>
            <a:r>
              <a:rPr lang="en-US" sz="2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Bruno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2286000" cy="45720"/>
          </a:xfrm>
          <a:prstGeom prst="rect">
            <a:avLst/>
          </a:prstGeom>
          <a:solidFill>
            <a:srgbClr val="E5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</a:t>
            </a: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cứu giải pháp Git-friendly workflow &amp; Thử nghiệm thực thi trên Andv-LMS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7680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hiện: </a:t>
            </a:r>
            <a:r>
              <a:rPr lang="en-US" sz="1100" dirty="0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Doãn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Văn An  
</a:t>
            </a:r>
            <a:r>
              <a:rPr lang="en-US" sz="11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ứng dụng: </a:t>
            </a:r>
            <a:r>
              <a:rPr lang="en-US" sz="11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CLI/Desktop, Fastify, Better Auth, Stripe Webhook, S3 Storage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NỘI DUNG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 Báo cáo Bài tập lớn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2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24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 &amp; Bối cảnh kiểm thử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bảo vệ hợp đồng dữ liệu &amp; rủi ro trong LMS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24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0" y="1069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Bruno &amp; Workflow Git-friendly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43560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Bruno với Postman/Insomnia &amp; Bru Markup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Bộ kiểm thử API cho Andv-LMS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7614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nguyên tắc thiết kế &amp; 14 nhóm collection nghiệp vụ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2860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03520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nghiệm &amp; Đánh giá Kết quả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7614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CLI/Desktop, 100% Pass &amp; Route coverage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0" y="3611880"/>
            <a:ext cx="4023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Hướng phát triển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đóng góp, hạn chế &amp; hướng mở rộng CI/CD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D5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TỔNG QUAN GIẢI PHÁP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512064"/>
            <a:ext cx="7909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&amp; Tính cấp thiết của Kiểm thử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phần mềm hiện đại, API kết nối giao diện, dữ liệu và các dịch vụ bên ngoài.</a:t>
            </a:r>
            <a:endParaRPr lang="en-US" sz="1130" dirty="0"/>
          </a:p>
        </p:txBody>
      </p:sp>
      <p:sp>
        <p:nvSpPr>
          <p:cNvPr id="5" name="Text 3"/>
          <p:cNvSpPr/>
          <p:nvPr/>
        </p:nvSpPr>
        <p:spPr>
          <a:xfrm>
            <a:off x="640080" y="1316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kern="0" spc="120" dirty="0">
                <a:solidFill>
                  <a:srgbClr val="69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API CỐT LÕI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34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728216"/>
            <a:ext cx="384048" cy="384048"/>
          </a:xfrm>
          <a:prstGeom prst="ellipse">
            <a:avLst/>
          </a:prstGeom>
          <a:solidFill>
            <a:srgbClr val="3478C7"/>
          </a:solidFill>
          <a:ln w="12700">
            <a:solidFill>
              <a:srgbClr val="34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25296" y="1664208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Web/Mobile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25296" y="190195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9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người dùng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395728" y="17282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5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16352" y="1572768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6D55D9"/>
          </a:solidFill>
          <a:ln w="12700">
            <a:solidFill>
              <a:srgbClr val="6D5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172821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5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01568" y="166420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568" y="190195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C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&amp; nghiệp vụ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453128" y="17282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5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64608" y="1572768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AF8F1"/>
          </a:solidFill>
          <a:ln w="12700">
            <a:solidFill>
              <a:srgbClr val="218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74336" y="1728216"/>
            <a:ext cx="384048" cy="384048"/>
          </a:xfrm>
          <a:prstGeom prst="ellipse">
            <a:avLst/>
          </a:prstGeom>
          <a:solidFill>
            <a:srgbClr val="218B67"/>
          </a:solidFill>
          <a:ln w="12700">
            <a:solidFill>
              <a:srgbClr val="218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74336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9824" y="166420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49824" y="190195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9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trữ &amp; truy xuất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748272" y="1572768"/>
            <a:ext cx="1755648" cy="731520"/>
          </a:xfrm>
          <a:prstGeom prst="roundRect">
            <a:avLst>
              <a:gd name="adj" fmla="val 10000"/>
            </a:avLst>
          </a:prstGeom>
          <a:solidFill>
            <a:srgbClr val="FFF6E3"/>
          </a:solidFill>
          <a:ln w="12700">
            <a:solidFill>
              <a:srgbClr val="A66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728216"/>
            <a:ext cx="384048" cy="384048"/>
          </a:xfrm>
          <a:prstGeom prst="ellipse">
            <a:avLst/>
          </a:prstGeom>
          <a:solidFill>
            <a:srgbClr val="A66A12"/>
          </a:solidFill>
          <a:ln w="12700">
            <a:solidFill>
              <a:srgbClr val="A66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33488" y="16642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bên ngoài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33488" y="19019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9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hệ thống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40080" y="254203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0F1"/>
          </a:solidFill>
          <a:ln w="12700">
            <a:solidFill>
              <a:srgbClr val="F2B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0664" y="2679192"/>
            <a:ext cx="155448" cy="155448"/>
          </a:xfrm>
          <a:prstGeom prst="ellipse">
            <a:avLst/>
          </a:prstGeom>
          <a:solidFill>
            <a:srgbClr val="C63F46"/>
          </a:solidFill>
          <a:ln w="12700">
            <a:solidFill>
              <a:srgbClr val="C6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0664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6012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9F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xác thực / phân quyền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651760" y="254203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0F1"/>
          </a:solidFill>
          <a:ln w="12700">
            <a:solidFill>
              <a:srgbClr val="F2B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52344" y="2679192"/>
            <a:ext cx="155448" cy="155448"/>
          </a:xfrm>
          <a:prstGeom prst="ellipse">
            <a:avLst/>
          </a:prstGeom>
          <a:solidFill>
            <a:srgbClr val="C63F46"/>
          </a:solidFill>
          <a:ln w="12700">
            <a:solidFill>
              <a:srgbClr val="C6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52344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97180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9F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lệch dữ liệu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663440" y="254203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FFF0F1"/>
          </a:solidFill>
          <a:ln w="12700">
            <a:solidFill>
              <a:srgbClr val="F2B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64024" y="2679192"/>
            <a:ext cx="155448" cy="155448"/>
          </a:xfrm>
          <a:prstGeom prst="ellipse">
            <a:avLst/>
          </a:prstGeom>
          <a:solidFill>
            <a:srgbClr val="C63F46"/>
          </a:solidFill>
          <a:ln w="12700">
            <a:solidFill>
              <a:srgbClr val="C6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64024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8348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9F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tích hợp hệ thống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6675120" y="2542032"/>
            <a:ext cx="1828800" cy="438912"/>
          </a:xfrm>
          <a:prstGeom prst="roundRect">
            <a:avLst>
              <a:gd name="adj" fmla="val 16667"/>
            </a:avLst>
          </a:prstGeom>
          <a:solidFill>
            <a:srgbClr val="FFF0F1"/>
          </a:solidFill>
          <a:ln w="12700">
            <a:solidFill>
              <a:srgbClr val="F2B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75704" y="2679192"/>
            <a:ext cx="155448" cy="155448"/>
          </a:xfrm>
          <a:prstGeom prst="ellipse">
            <a:avLst/>
          </a:prstGeom>
          <a:solidFill>
            <a:srgbClr val="C63F46"/>
          </a:solidFill>
          <a:ln w="12700">
            <a:solidFill>
              <a:srgbClr val="C6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75704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9516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9F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Gián đoạn / giảm hiệu năng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640080" y="331012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95528" y="3493008"/>
            <a:ext cx="347472" cy="347472"/>
          </a:xfrm>
          <a:prstGeom prst="ellipse">
            <a:avLst/>
          </a:prstGeom>
          <a:solidFill>
            <a:srgbClr val="3478C7"/>
          </a:solidFill>
          <a:ln w="12700">
            <a:solidFill>
              <a:srgbClr val="34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5528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61872" y="34015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lớn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1261872" y="363931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lượng endpoint và tích hợp tăng nhanh khiến kiểm thử thủ công khó bao phủ.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3310128" y="331012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FFF0F1"/>
          </a:solidFill>
          <a:ln w="12700">
            <a:solidFill>
              <a:srgbClr val="FF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465576" y="3493008"/>
            <a:ext cx="347472" cy="347472"/>
          </a:xfrm>
          <a:prstGeom prst="ellipse">
            <a:avLst/>
          </a:prstGeom>
          <a:solidFill>
            <a:srgbClr val="C63F46"/>
          </a:solidFill>
          <a:ln w="12700">
            <a:solidFill>
              <a:srgbClr val="C63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65576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931920" y="34015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trực tiếp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3931920" y="363931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API ảnh hưởng đến bảo mật, tính toàn vẹn dữ liệu và hoạt động kinh doanh.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980176" y="3310128"/>
            <a:ext cx="2514600" cy="841248"/>
          </a:xfrm>
          <a:prstGeom prst="roundRect">
            <a:avLst>
              <a:gd name="adj" fmla="val 8696"/>
            </a:avLst>
          </a:prstGeom>
          <a:solidFill>
            <a:srgbClr val="EEEAFE"/>
          </a:solidFill>
          <a:ln w="12700">
            <a:solidFill>
              <a:srgbClr val="EE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35624" y="3493008"/>
            <a:ext cx="347472" cy="347472"/>
          </a:xfrm>
          <a:prstGeom prst="ellipse">
            <a:avLst/>
          </a:prstGeom>
          <a:solidFill>
            <a:srgbClr val="6D55D9"/>
          </a:solidFill>
          <a:ln w="12700">
            <a:solidFill>
              <a:srgbClr val="6D5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35624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01968" y="34015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đổi liên tục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6601968" y="363931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20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hồi quy dễ bị bỏ sót khi ứng dụng, API và các tích hợp cùng thay đổi.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640080" y="4315968"/>
            <a:ext cx="7863840" cy="402336"/>
          </a:xfrm>
          <a:prstGeom prst="roundRect">
            <a:avLst>
              <a:gd name="adj" fmla="val 18182"/>
            </a:avLst>
          </a:prstGeom>
          <a:solidFill>
            <a:srgbClr val="101957"/>
          </a:solidFill>
          <a:ln w="12700">
            <a:solidFill>
              <a:srgbClr val="1019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41248" y="44165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BDB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664208" y="43708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bộ kiểm thử API tự động, chạy lặp lại và tích hợp Git/CI</a:t>
            </a:r>
            <a:endParaRPr lang="en-US" sz="1160" dirty="0"/>
          </a:p>
        </p:txBody>
      </p:sp>
      <p:sp>
        <p:nvSpPr>
          <p:cNvPr id="62" name="Text 60"/>
          <p:cNvSpPr/>
          <p:nvPr/>
        </p:nvSpPr>
        <p:spPr>
          <a:xfrm>
            <a:off x="640080" y="4919472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747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  |   Slide 3 / 18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TỔNG QUAN GIẢI PHÁP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Thách thức của Công cụ Kiểm thử API Truyền thống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4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Rào cản Cloud Sync / Mất Scratchpad offline (Postman, Insomnia 8.0+) &amp; Xung đột Git merge với tệp JSON lớn</a:t>
            </a:r>
            <a:endParaRPr lang="en-US" sz="1050" dirty="0"/>
          </a:p>
        </p:txBody>
      </p:sp>
      <p:pic>
        <p:nvPicPr>
          <p:cNvPr id="6" name="Image 0" descr="/home/andv/personal/andv-lms/docs/report/images/hinh-2-sosanh-bruno-pos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33" y="1074420"/>
            <a:ext cx="6578533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GIẢI PHÁP BRUNO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Bruno &amp; Định dạng Bru Markup Plain-Text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5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100% Offline-First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 dữ liệu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toàn chạy cục bộ, không yêu cầu tài khoản đám mây, bảo vệ token xác thực &amp; webhook secrets.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Bru Markup Plain-Text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chức theo thư mục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request API là một tệp `.bru` riêng biệt nằm trực tiếp trong repository mã nguồn dự án.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Tối ưu cho Git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dễ dàng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thay đổi URL, headers, script hay assertions đều tạo ra dòng diff rõ ràng trên Git Pull Request.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GIẢI PHÁP BRUNO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vượt trội về Git-friendly và Tốc độ Tăng trưởng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6 / 18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554672"/>
              </p:ext>
            </p:extLst>
          </p:nvPr>
        </p:nvGraphicFramePr>
        <p:xfrm>
          <a:off x="548640" y="960120"/>
          <a:ext cx="8046720" cy="3749039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Ý nghĩa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&amp; dữ liệu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.bru; offline-first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Workspace/cloud; JSON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 thuận lợi cho Git review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→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→ 200.000 MAU (1.000×)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 → &gt;35 triệu user (1,4×)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 tăng nhanh hơn vượt trội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Năm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250.000 → &gt;600.000 MAU (2,4×)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Nền tảng đã trưởng thành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 tiếp tục tăng hơn 140%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Động lực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44.900 stars; 224.799 CLI tải/tuần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 triệu người dùng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Cộng đồng Bruno vẫn bứt phá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luận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3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Tăng trưởng tương đối vượt trội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 mô lớn, tốc độ chậm hơn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Bruno có triển vọng dài hạn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Nguồn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[12], [13], [15], [16]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[14], [17]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cập nhật đến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 Andv-LMS &amp; Ranh giới Kiểm thử API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7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Fastify REST API Backend (xác thực Better Auth &amp; Arcjet) kết nối PostgreSQL và S3 Storage Service</a:t>
            </a:r>
            <a:endParaRPr lang="en-US" sz="1050" dirty="0"/>
          </a:p>
        </p:txBody>
      </p:sp>
      <p:pic>
        <p:nvPicPr>
          <p:cNvPr id="6" name="Image 0" descr="/home/andv/personal/andv-lms/docs/report/images/hinh-1-kientruc-andv-l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51" y="1074420"/>
            <a:ext cx="6496698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Thiết kế Bộ Kiểm thử API cho Andv-LMS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8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Bám theo Luồng Nghiệp vụ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các request theo chuỗi có trạng thái (đăng nhập -&gt; xem khóa học -&gt; thanh toán -&gt; mở khóa lesson) thay vì chỉ test endpoint rời rạc.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Tách bạch Ranh giới Trách nhiệm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nhỏ collection theo thư mục: system, auth-contract, protected-routes, admin-routes, payment-workflows, edge-workflows.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Dữ liệu Seed Tái tạo Được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các tài khoản và ID Bruno-owned định danh (deterministic seed) giúp bộ test chạy lặp lại tin cậy nhiều lần.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Expected Assertions Cụ thể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337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request đều có tiêu chí kiểm tra HTTP Status (200, 401, 403, 404), schema response, token và boolean state trong database.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nhóm Collection Tiêu biểu và Quy mô Toàn bộ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9 / 18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3749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Nhóm tiêu biểu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File .bru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Mục tiêu Kiểm thử Chính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tra backend health check &amp; OpenAPI JSON document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auth-contract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tra hợp đồng session &amp; validation email-exists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protected-routes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Xác minh ranh giới 401 Unauthorized khi chưa đăng nhập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admin-routes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Xác minh ranh giới 401 Unauthorized ở toàn bộ route Admin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auth-workflows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Đăng nhập user/admin &amp; kiểm tra session cookie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course-workflows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Luồng xem khóa học, sidebar, lesson content &amp; complete lesson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payment-workflows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checkout session, signed webhook &amp; mở khóa enrollment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storage-workflows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Cấp presigned URL, upload media thực tế &amp; xóa file S3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Toàn collection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nhóm; 144 file gồm root và environment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Xác thực &amp; Phân quyền Tài khoản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10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Authentication Workflow (Better Auth)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Đăng nhập Tài khoản Seed: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credentials user/admin tới `/api/auth/sign-in/email`, nhận session token.
</a:t>
            </a: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Đối chiếu 2 Cơ chế Session: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song song Direct Better Auth Session (`/api/auth/get-session`) và API V1 Session (`/api/v1/auth/session`).
</a:t>
            </a: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Vòng đời Quản lý Tài khoản: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user mới, yêu cầu reset password OTP, trích xuất OTP runtime và đổi mật khẩu thành công.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Authorization Boundaries (401 vs 403)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Ranh giới 401 Unauthorized: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100% người dùng chưa đăng nhập khi truy cập các route protected (lesson content, profile, checkout).
</a:t>
            </a: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Ranh giới 403 Forbidden: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 người dùng thường (Role User) khi cố tình truy cập các API Quản trị Admin (tạo khóa học, cập nhật bài học, xem danh sách user).
</a:t>
            </a: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Đảm bảo tính Toàn vẹn Phân quyền: 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Ngăn chặn các lỗ hổng leo thang đặc quyền (Privilege Escalation).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Luồng Nghiệp vụ Khóa học &amp; Tiến độ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11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học Công khai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645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`get-seeded-public-course.bru` kiểm tra thông tin course, slug và danh sách chapter công khai.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1188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minh Ghi danh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645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`check-seeded-is-enrolled.bru` xác minh biến boolean `enrolled: true` của user đã mua.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Nội dung Bài học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1645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`get-seeded-lesson-content.bru` kiểm tra quyền truy cập video URL, thumbnail &amp; tài liệu.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188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&amp; Đọc Tiến độ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057400"/>
            <a:ext cx="1645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`complete-seeded-lesson.bru` và đọc lại trạng thái `lesson-progress` để xác minh dữ liệu ghi nhận thành công.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Tích hợp Thanh toán Stripe &amp; Webhook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12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 Khởi tạo Checkout Session  →  2. Tự động sinh chữ ký stripe-signature (HMAC-SHA256)  →  3. Mở khóa Enrollment</a:t>
            </a:r>
            <a:endParaRPr lang="en-US" sz="1050" dirty="0"/>
          </a:p>
        </p:txBody>
      </p:sp>
      <p:pic>
        <p:nvPicPr>
          <p:cNvPr id="6" name="Image 0" descr="/home/andv/personal/andv-lms/docs/report/images/hinh-4-sequence-stripe-web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461" y="1074420"/>
            <a:ext cx="5533078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Tích hợp Lưu trữ Media (S3 Storage)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13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Cấp Presigned URL 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gửi request xin cấp URL upload media (cover image, thumbnail, lesson video). API trả về presigned PUT URL có thời hạn.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8046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Upload File thực tế lên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gửi HTTP PUT request kèm binary file fixture trực tiếp tới S3/R2 Storage URL. Assertions kiểm tra HTTP Status 200/204.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Dọn dẹp &amp; Xóa File Media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upload thành công, gửi request xóa file media tương ứng khỏi S3 storage để đảm bảo tài nguyên kiểm thử sạch sẽ.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THIẾT KẾ BỘ KIỂM THỬ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Trường hợp Biên &amp; Helper Desktop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14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Bao phủ 25+ Edge Cases (Invalid body, Missing resources, Tampered signature) &amp; Helper Routes (/api/v1/desktop-helpers/*)</a:t>
            </a:r>
            <a:endParaRPr lang="en-US" sz="1050" dirty="0"/>
          </a:p>
        </p:txBody>
      </p:sp>
      <p:pic>
        <p:nvPicPr>
          <p:cNvPr id="6" name="Image 0" descr="/home/andv/personal/andv-lms/docs/report/images/hinh-6-giao-dien-bruno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68" y="1074420"/>
            <a:ext cx="7052664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THỰC NGHIỆM &amp; ĐÁNH GIÁ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Thực thi Kiểm thử Tự động với Bruno CLI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15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Thực thi tự động: `npm run test:api:full` (Seed deterministic data → `bru run` toàn bộ 14 collection → Trích xuất biến môi trường)</a:t>
            </a:r>
            <a:endParaRPr lang="en-US" sz="1050" dirty="0"/>
          </a:p>
        </p:txBody>
      </p:sp>
      <p:pic>
        <p:nvPicPr>
          <p:cNvPr id="6" name="Image 0" descr="/home/andv/personal/andv-lms/docs/report/images/hinh-3-flowchart-bruno-c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264" y="1074420"/>
            <a:ext cx="4023472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THỰC NGHIỆM &amp; ĐÁNH GIÁ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 &amp; Mức độ Bao phủ API (Route Coverage)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16 / 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10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PASS — Collection: 142 request | 4 script: 138 request, 212 assertions | Coverage: các route phù hợp API test</a:t>
            </a:r>
            <a:endParaRPr lang="en-US" sz="1050" dirty="0"/>
          </a:p>
        </p:txBody>
      </p:sp>
      <p:pic>
        <p:nvPicPr>
          <p:cNvPr id="6" name="Image 0" descr="/home/andv/personal/andv-lms/docs/report/images/hinh-7-ket-qua-bruno-c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5" y="1074420"/>
            <a:ext cx="2793989" cy="3794760"/>
          </a:xfrm>
          <a:prstGeom prst="rect">
            <a:avLst/>
          </a:prstGeom>
        </p:spPr>
      </p:pic>
      <p:pic>
        <p:nvPicPr>
          <p:cNvPr id="7" name="Image 1" descr="/home/andv/personal/andv-lms/docs/report/images/hinh-5-do-bao-phu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82182"/>
            <a:ext cx="3931920" cy="2579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KẾT LUẬN &amp; HƯỚNG PHÁT TRIỂN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của Đề tài &amp; Hướng phát triển Tương lai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17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9319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Hạn chế </a:t>
            </a:r>
            <a:r>
              <a:rPr lang="en-US" sz="13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</a:t>
            </a: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Chưa tích hợp CI/CD tự động: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tại việc thực thi bộ test dựa trên script npm cục bộ, chưa gắn vào GitHub Actions pipeline.
</a:t>
            </a: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Phụ thuộc vào dữ liệu Seed định danh: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đảm bảo database kiểm thử được reset/seed đúng trạng thái trước khi chạy kịch bản full.
</a:t>
            </a:r>
            <a:r>
              <a:rPr lang="en-US" sz="105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Chưa mở rộng Fuzzing &amp; Load Testing: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kiểm thử tải lớn (Stress test) và kiểm thử xâm nhập dữ liệu ngẫu nhiên.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3192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Hướng Mở rộng Phát triển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Đưa Bruno CLI vào CI/CD Pipeline: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kích hoạt `bru run` mỗi khi có Pull Request mới được mở trên Git.
</a:t>
            </a: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Xây dựng Báo cáo HTML Tự động: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reporter xuất file báo cáo HTML/JUnit XML chi tiết sau mỗi phiên chạy.
</a:t>
            </a:r>
            <a:r>
              <a:rPr lang="en-US" sz="105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Mở rộng Fuzzing &amp; Performance Testing:
</a:t>
            </a:r>
            <a:r>
              <a:rPr lang="en-US" sz="10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Bruno với k6 hoặc Locust để đánh giá hiệu năng chịu tải của API LMS.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KẾT LUẬN &amp; HƯỚNG PHÁT TRIỂN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Đóng </a:t>
            </a:r>
            <a:r>
              <a:rPr lang="en-US" sz="19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góp</a:t>
            </a:r>
            <a:r>
              <a:rPr lang="en-US" sz="19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dirty="0" err="1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Bài tập lớn: Kiểm thử API tự động với Bruno trên hệ thống LMS   |   Slide 18 / 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Quy trình Git-Friendly Workflow hoàn chỉnh: 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kịch bản kiểm thử API bằng file plain-text `.bru` trong mã nguồn, tối ưu hóa code review trên Git.
</a:t>
            </a:r>
            <a:r>
              <a:rPr lang="en-US" sz="11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Khả năng Audit &amp; Bảo mật Dữ liệu Cao: 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100% Offline-first, loại bỏ nguy cơ rò rỉ token/secret lên đám mây bên thứ ba.
</a:t>
            </a:r>
            <a:r>
              <a:rPr lang="en-US" sz="11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Tăng trưởng Vượt trội &amp; Triển vọng Dài hạn: </a:t>
            </a:r>
            <a:r>
              <a:rPr lang="en-US" sz="11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tăng 1.000× trong 2023–2024 và 2,4× trong 2025; tốc độ tương đối vượt xa Postman, củng cố lựa chọn Git-friendly.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THẦY/CÔ VÀ CÁC BẠN ĐÃ LẮNG NGHE!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 — Thảo luận &amp; Giải đáp thắc mắc bài tập lớn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2406</Words>
  <Application>Microsoft Office PowerPoint</Application>
  <PresentationFormat>On-screen Show (16:9)</PresentationFormat>
  <Paragraphs>232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API tự động với Bruno trên hệ thống LMS</dc:title>
  <dc:subject>PptxGenJS Presentation</dc:subject>
  <dc:creator>Báo cáo Bài tập lớn - Andv-LMS API Testing</dc:creator>
  <cp:lastModifiedBy>doan.van.an</cp:lastModifiedBy>
  <cp:revision>3</cp:revision>
  <dcterms:created xsi:type="dcterms:W3CDTF">2026-07-22T09:07:47Z</dcterms:created>
  <dcterms:modified xsi:type="dcterms:W3CDTF">2026-08-15T09:56:55Z</dcterms:modified>
</cp:coreProperties>
</file>