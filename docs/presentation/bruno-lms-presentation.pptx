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9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B6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CÁO BÀI TẬP LỚN MÔN HỌC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123444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rgbClr val="0B13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KIỂM THỬ API TỰ ĐỘNG VỚI BRUNO</a:t>
            </a:r>
            <a:endParaRPr lang="en-US" sz="28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rgbClr val="0B13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TRÊN HỆ THỐNG LMS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2697480"/>
            <a:ext cx="2286000" cy="45720"/>
          </a:xfrm>
          <a:prstGeom prst="rect">
            <a:avLst/>
          </a:prstGeom>
          <a:solidFill>
            <a:srgbClr val="E5A93B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288036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Đồ án môn học: Nghiên cứu giải pháp Git-friendly workflow &amp; Thử nghiệm thực thi trên Andv-LMS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3520440"/>
            <a:ext cx="76809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361188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0B13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Sinh viên thực hiện: 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Nhóm nghiên cứu Andv-LMS   </a:t>
            </a:r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0B13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 Môn học / Đồ án: 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Kiểm thử phần mềm &amp; API Test
</a:t>
            </a:r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0B13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nghệ ứng dụng: </a:t>
            </a:r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7B6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Bruno CLI/Desktop, Fastify, Better Auth, Stripe Webhook, S3 Storage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B6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TỔNG QUAN NỘI DUNG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80467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B13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Mục lục Báo cáo Bài tập lớn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548640" y="4892040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cáo Bài tập lớn: Kiểm thử API tự động với Bruno trên hệ thống LMS   |   Slide 2 / 18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960120"/>
            <a:ext cx="384048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24712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5A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280160" y="1069848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3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Đặt vấn đề &amp; Bối cảnh kiểm thử API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80160" y="1435608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Nhu cầu bảo vệ hợp đồng dữ liệu &amp; rủi ro trong LMS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0" y="960120"/>
            <a:ext cx="384048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0" y="1124712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5A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303520" y="1069848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3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Giải pháp Bruno &amp; Workflow Git-friendly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303520" y="1435608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sánh Bruno với Postman/Insomnia &amp; Bru Markup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48640" y="2286000"/>
            <a:ext cx="384048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450592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5A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280160" y="2395728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3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Thiết kế Bộ kiểm thử API cho Andv-LMS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80160" y="2761488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nguyên tắc thiết kế &amp; 14 nhóm collection nghiệp vụ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572000" y="2286000"/>
            <a:ext cx="384048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0" y="2450592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5A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303520" y="2395728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3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Thực nghiệm &amp; Đánh giá Kết quả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303520" y="2761488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Quy trình CLI/Desktop, 100% Pass &amp; Route coverage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560320" y="3611880"/>
            <a:ext cx="4023360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7B61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43200" y="374904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B6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3383280" y="370332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3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luận &amp; Hướng phát triển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3383280" y="40233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Tổng kết đóng góp, hạn chế &amp; hướng mở rộng CI/CD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9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B6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TỔNG QUAN GIẢI PHÁP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80467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B13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Bối cảnh &amp; Tính cấp thiết của Kiểm thử API trong LMS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548640" y="4892040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cáo Bài tập lớn: Kiểm thử API tự động với Bruno trên hệ thống LMS   |   Slide 3 / 18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548640" y="804672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3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API kết nối Next.js Frontend, Fastify Backend, PostgreSQL và dịch vụ bên ngoài (Stripe, S3 Storage)</a:t>
            </a:r>
            <a:endParaRPr lang="en-US" sz="1050" dirty="0"/>
          </a:p>
        </p:txBody>
      </p:sp>
      <p:pic>
        <p:nvPicPr>
          <p:cNvPr id="6" name="Image 0" descr="/home/andv/personal/andv-lms/docs/report/images/hinh-homep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2854" y="1074420"/>
            <a:ext cx="7718292" cy="37947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B6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TỔNG QUAN GIẢI PHÁP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80467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B13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Thách thức của Công cụ Kiểm thử API Truyền thống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548640" y="4892040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cáo Bài tập lớn: Kiểm thử API tự động với Bruno trên hệ thống LMS   |   Slide 4 / 18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548640" y="804672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Rào cản Cloud Sync / Mất Scratchpad offline (Postman, Insomnia 8.0+) &amp; Xung đột Git merge với tệp JSON lớn</a:t>
            </a:r>
            <a:endParaRPr lang="en-US" sz="1050" dirty="0"/>
          </a:p>
        </p:txBody>
      </p:sp>
      <p:pic>
        <p:nvPicPr>
          <p:cNvPr id="6" name="Image 0" descr="/home/andv/personal/andv-lms/docs/report/images/hinh-2-sosanh-bruno-postm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2733" y="1074420"/>
            <a:ext cx="6578533" cy="37947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B6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GIẢI PHÁP BRUNO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80467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B13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Giải pháp Bruno &amp; Định dạng Bru Markup Plain-Text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548640" y="4892040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cáo Bài tập lớn: Kiểm thử API tự động với Bruno trên hệ thống LMS   |   Slide 5 / 18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005840"/>
            <a:ext cx="256032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7B61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1887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3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100% Offline-First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85800" y="15544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5A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toàn dữ liệu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85800" y="1920240"/>
            <a:ext cx="22860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Hoàn toàn chạy cục bộ, không yêu cầu tài khoản đám mây, bảo vệ token xác thực &amp; webhook secrets.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91840" y="1005840"/>
            <a:ext cx="256032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7B61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29000" y="11887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3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Bru Markup Plain-Text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429000" y="15544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5A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Tổ chức theo thư mục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429000" y="1920240"/>
            <a:ext cx="22860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request API là một tệp `.bru` riêng biệt nằm trực tiếp trong repository mã nguồn dự án.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035040" y="1005840"/>
            <a:ext cx="256032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7B61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72200" y="11887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3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Tối ưu cho Git Review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172200" y="15544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5A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Review dễ dàng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172200" y="1920240"/>
            <a:ext cx="22860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Mọi thay đổi URL, headers, script hay assertions đều tạo ra dòng diff rõ ràng trên Git Pull Request.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B6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GIẢI PHÁP BRUNO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80467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B13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sánh Bruno với Postman và Insomnia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548640" y="4892040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cáo Bài tập lớn: Kiểm thử API tự động với Bruno trên hệ thống LMS   |   Slide 6 / 18</a:t>
            </a:r>
            <a:endParaRPr lang="en-US" sz="8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960120"/>
          <a:ext cx="8046720" cy="3749040"/>
        </p:xfrm>
        <a:graphic>
          <a:graphicData uri="http://schemas.openxmlformats.org/drawingml/2006/table">
            <a:tbl>
              <a:tblPr/>
              <a:tblGrid>
                <a:gridCol w="1645920"/>
                <a:gridCol w="2194560"/>
                <a:gridCol w="2103120"/>
                <a:gridCol w="2103120"/>
              </a:tblGrid>
              <a:tr h="53557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Tiêu chí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3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Bruno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6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Postman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Insomnia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Quản lý Git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File .bru theo thư mục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Export JSON nguyên khối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Tùy biến cấu hình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Độ rõ của Diff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Rõ ràng từng dòng plain-text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Khó đọc diff JSON lớn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Phụ thuộc workflow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Lưu trữ Offline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 Cục bộ / Offline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Hạn chế (bỏ Scratchpad)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Bắt buộc tài khoản Cloud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Giấy phép &amp; Chi phí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Mã nguồn mở MIT (Miễn phí)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Thương mại / Giới hạn team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Thương mại dần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 Automation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35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Bruno CLI (bru run)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Newman CLI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Inso CLI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Khả năng Audit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Dễ truy vết lịch sử Git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Phụ thuộc Workspace cloud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Phụ thuộc Cloud sync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B6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THIẾT KẾ BỘ KIỂM THỬ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80467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B13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Kiến trúc Hệ thống Andv-LMS &amp; Ranh giới Kiểm thử API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548640" y="4892040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cáo Bài tập lớn: Kiểm thử API tự động với Bruno trên hệ thống LMS   |   Slide 7 / 18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548640" y="804672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3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Fastify REST API Backend (xác thực Better Auth &amp; Arcjet) kết nối PostgreSQL và S3 Storage Service</a:t>
            </a:r>
            <a:endParaRPr lang="en-US" sz="1050" dirty="0"/>
          </a:p>
        </p:txBody>
      </p:sp>
      <p:pic>
        <p:nvPicPr>
          <p:cNvPr id="6" name="Image 0" descr="/home/andv/personal/andv-lms/docs/report/images/hinh-1-kientruc-andv-lm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3651" y="1074420"/>
            <a:ext cx="6496698" cy="37947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B6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THIẾT KẾ BỘ KIỂM THỬ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80467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B13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Nguyên tắc Thiết kế Bộ Kiểm thử API cho Andv-LMS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548640" y="4892040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cáo Bài tập lớn: Kiểm thử API tự động với Bruno trên hệ thống LMS   |   Slide 8 / 18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960120"/>
            <a:ext cx="393192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7B61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09728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3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Bám theo Luồng Nghiệp vụ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1463040"/>
            <a:ext cx="3566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Kiểm thử các request theo chuỗi có trạng thái (đăng nhập -&gt; xem khóa học -&gt; thanh toán -&gt; mở khóa lesson) thay vì chỉ test endpoint rời rạc.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663440" y="960120"/>
            <a:ext cx="393192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7B61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109728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3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Tách bạch Ranh giới Trách nhiệm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846320" y="1463040"/>
            <a:ext cx="3566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Chia nhỏ collection theo thư mục: system, auth-contract, protected-routes, admin-routes, payment-workflows, edge-workflows.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2834640"/>
            <a:ext cx="393192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7B61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29718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3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Dữ liệu Seed Tái tạo Được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31520" y="3337560"/>
            <a:ext cx="3566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Sử dụng các tài khoản và ID Bruno-owned định danh (deterministic seed) giúp bộ test chạy lặp lại tin cậy nhiều lần.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63440" y="2834640"/>
            <a:ext cx="393192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7B61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46320" y="29718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3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Expected Assertions Cụ thể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46320" y="3337560"/>
            <a:ext cx="3566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request đều có tiêu chí kiểm tra HTTP Status (200, 401, 403, 404), schema response, token và boolean state trong database.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9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B6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THIẾT KẾ BỘ KIỂM THỬ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80467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B13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Tổng quan Cấu trúc Collection Bruno trong Andv-LMS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548640" y="4892040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cáo Bài tập lớn: Kiểm thử API tự động với Bruno trên hệ thống LMS   |   Slide 9 / 18</a:t>
            </a:r>
            <a:endParaRPr lang="en-US" sz="8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960120"/>
          <a:ext cx="8046720" cy="374904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4937760"/>
              </a:tblGrid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Nhóm Collection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3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Số File .bru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3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Mục tiêu Kiểm thử Chính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35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system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Kiểm tra backend health check &amp; OpenAPI JSON document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auth-contract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Kiểm tra hợp đồng session &amp; validation email-exists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protected-routes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Xác minh ranh giới 401 Unauthorized khi chưa đăng nhập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admin-routes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Xác minh ranh giới 401 Unauthorized ở toàn bộ route Admin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auth-workflows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Đăng nhập user/admin &amp; kiểm tra session cookie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course-workflows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Luồng xem khóa học, sidebar, lesson content &amp; complete lesson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payment-workflows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Stripe checkout session, signed webhook &amp; mở khóa enrollment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storage-workflows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Cấp presigned URL, upload media thực tế &amp; xóa file S3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edge-workflows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Kiểm thử invalid input, missing resource, forbidden 403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9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B6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THIẾT KẾ BỘ KIỂM THỬ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80467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B13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Kiểm thử Xác thực &amp; Phân quyền Tài khoản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548640" y="4892040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cáo Bài tập lớn: Kiểm thử API tự động với Bruno trên hệ thống LMS   |   Slide 10 / 18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960120"/>
            <a:ext cx="393192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7B61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430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3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🔑 Authentication Workflow (Better Auth)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155448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Đăng nhập Tài khoản Seed: 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Gửi credentials user/admin tới `/api/auth/sign-in/email`, nhận session token.
</a:t>
            </a:r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Đối chiếu 2 Cơ chế Session: 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Xác minh song song Direct Better Auth Session (`/api/auth/get-session`) và API V1 Session (`/api/v1/auth/session`).
</a:t>
            </a:r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Vòng đời Quản lý Tài khoản: 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Đăng ký user mới, yêu cầu reset password OTP, trích xuất OTP runtime và đổi mật khẩu thành công.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663440" y="960120"/>
            <a:ext cx="393192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A9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11430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3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 Authorization Boundaries (401 vs 403)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46320" y="155448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Ranh giới 401 Unauthorized: 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Chặn 100% người dùng chưa đăng nhập khi truy cập các route protected (lesson content, profile, checkout).
</a:t>
            </a:r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Ranh giới 403 Forbidden: 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Chặn người dùng thường (Role User) khi cố tình truy cập các API Quản trị Admin (tạo khóa học, cập nhật bài học, xem danh sách user).
</a:t>
            </a:r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Đảm bảo tính Toàn vẹn Phân quyền: 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Ngăn chặn các lỗ hổng leo thang đặc quyền (Privilege Escalation).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9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B6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THIẾT KẾ BỘ KIỂM THỬ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80467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B13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Kiểm thử Luồng Nghiệp vụ Khóa học &amp; Tiến độ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548640" y="4892040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cáo Bài tập lớn: Kiểm thử API tự động với Bruno trên hệ thống LMS   |   Slide 11 / 18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005840"/>
            <a:ext cx="19202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7B61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1887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5A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15087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3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Khóa học Công khai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2057400"/>
            <a:ext cx="16459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`get-seeded-public-course.bru` kiểm tra thông tin course, slug và danh sách chapter công khai.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606040" y="1005840"/>
            <a:ext cx="19202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7B61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697480" y="11887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5A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697480" y="15087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3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Xác minh Ghi danh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743200" y="2057400"/>
            <a:ext cx="16459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`check-seeded-is-enrolled.bru` xác minh biến boolean `enrolled: true` của user đã mua.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63440" y="1005840"/>
            <a:ext cx="19202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7B61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0" y="11887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5A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754880" y="15087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3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Nội dung Bài học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00600" y="2057400"/>
            <a:ext cx="16459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`get-seeded-lesson-content.bru` kiểm tra quyền truy cập video URL, thumbnail &amp; tài liệu.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720840" y="1005840"/>
            <a:ext cx="19202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7B61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12280" y="11887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5A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812280" y="15087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3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Hoàn thành &amp; Đọc Tiến độ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58000" y="2057400"/>
            <a:ext cx="16459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Gửi `complete-seeded-lesson.bru` và đọc lại trạng thái `lesson-progress` để xác minh dữ liệu ghi nhận thành công.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9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B6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THIẾT KẾ BỘ KIỂM THỬ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80467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B13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Kiểm thử Tích hợp Thanh toán Stripe &amp; Webhook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548640" y="4892040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cáo Bài tập lớn: Kiểm thử API tự động với Bruno trên hệ thống LMS   |   Slide 12 / 18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548640" y="804672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3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1. Khởi tạo Checkout Session  →  2. Tự động sinh chữ ký stripe-signature (HMAC-SHA256)  →  3. Mở khóa Enrollment</a:t>
            </a:r>
            <a:endParaRPr lang="en-US" sz="1050" dirty="0"/>
          </a:p>
        </p:txBody>
      </p:sp>
      <p:pic>
        <p:nvPicPr>
          <p:cNvPr id="6" name="Image 0" descr="/home/andv/personal/andv-lms/docs/report/images/hinh-4-sequence-stripe-webhoo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05461" y="1074420"/>
            <a:ext cx="5533078" cy="37947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9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B6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THIẾT KẾ BỘ KIỂM THỬ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80467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B13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Kiểm thử Tích hợp Lưu trữ Media (S3 Storage)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548640" y="4892040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cáo Bài tập lớn: Kiểm thử API tự động với Bruno trên hệ thống LMS   |   Slide 13 / 18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005840"/>
            <a:ext cx="80467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B61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430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3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Cấp Presigned URL Upload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14173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gửi request xin cấp URL upload media (cover image, thumbnail, lesson video). API trả về presigned PUT URL có thời hạn.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240280"/>
            <a:ext cx="80467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B61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37744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3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Upload File thực tế lên Storage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265176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Bruno gửi HTTP PUT request kèm binary file fixture trực tiếp tới S3/R2 Storage URL. Assertions kiểm tra HTTP Status 200/204.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3474720"/>
            <a:ext cx="80467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B61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361188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3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Dọn dẹp &amp; Xóa File Media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31520" y="388620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Sau khi upload thành công, gửi request xóa file media tương ứng khỏi S3 storage để đảm bảo tài nguyên kiểm thử sạch sẽ.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9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B6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THIẾT KẾ BỘ KIỂM THỬ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80467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B13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Kiểm thử Trường hợp Biên &amp; Helper Desktop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548640" y="4892040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cáo Bài tập lớn: Kiểm thử API tự động với Bruno trên hệ thống LMS   |   Slide 14 / 18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548640" y="804672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3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Bao phủ 25+ Edge Cases (Invalid body, Missing resources, Tampered signature) &amp; Helper Routes (/api/v1/desktop-helpers/*)</a:t>
            </a:r>
            <a:endParaRPr lang="en-US" sz="1050" dirty="0"/>
          </a:p>
        </p:txBody>
      </p:sp>
      <p:pic>
        <p:nvPicPr>
          <p:cNvPr id="6" name="Image 0" descr="/home/andv/personal/andv-lms/docs/report/images/hinh-6-giao-dien-bruno-desk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668" y="1074420"/>
            <a:ext cx="7052664" cy="37947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9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B6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THỰC NGHIỆM &amp; ĐÁNH GIÁ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80467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B13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Quy trình Thực thi Kiểm thử Tự động với Bruno CLI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548640" y="4892040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cáo Bài tập lớn: Kiểm thử API tự động với Bruno trên hệ thống LMS   |   Slide 15 / 18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548640" y="804672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3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Thực thi tự động: `npm run test:api:full` (Seed deterministic data → `bru run` toàn bộ 14 collection → Trích xuất biến môi trường)</a:t>
            </a:r>
            <a:endParaRPr lang="en-US" sz="1050" dirty="0"/>
          </a:p>
        </p:txBody>
      </p:sp>
      <p:pic>
        <p:nvPicPr>
          <p:cNvPr id="6" name="Image 0" descr="/home/andv/personal/andv-lms/docs/report/images/hinh-3-flowchart-bruno-cl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264" y="1074420"/>
            <a:ext cx="4023472" cy="37947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9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B6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THỰC NGHIỆM &amp; ĐÁNH GIÁ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80467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B13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quả Thực nghiệm &amp; Mức độ Bao phủ API (Route Coverage)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548640" y="4892040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cáo Bài tập lớn: Kiểm thử API tự động với Bruno trên hệ thống LMS   |   Slide 16 / 18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548640" y="804672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Kết quả: 100% PASS trên toàn bộ 133+ tệp kịch bản kiểm thử `.bru` và Bao phủ 100% danh mục route backend Fastify</a:t>
            </a:r>
            <a:endParaRPr lang="en-US" sz="1050" dirty="0"/>
          </a:p>
        </p:txBody>
      </p:sp>
      <p:pic>
        <p:nvPicPr>
          <p:cNvPr id="6" name="Image 0" descr="/home/andv/personal/andv-lms/docs/report/images/hinh-7-ket-qua-bruno-cl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7605" y="1074420"/>
            <a:ext cx="2793989" cy="3794760"/>
          </a:xfrm>
          <a:prstGeom prst="rect">
            <a:avLst/>
          </a:prstGeom>
        </p:spPr>
      </p:pic>
      <p:pic>
        <p:nvPicPr>
          <p:cNvPr id="7" name="Image 1" descr="/home/andv/personal/andv-lms/docs/report/images/hinh-5-do-bao-phu-ap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682182"/>
            <a:ext cx="3931920" cy="257923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9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B6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KẾT LUẬN &amp; HƯỚNG PHÁT TRIỂN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80467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B13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Hạn chế của Đề tài &amp; Hướng phát triển Tương lai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548640" y="4892040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cáo Bài tập lớn: Kiểm thử API tự động với Bruno trên hệ thống LMS   |   Slide 17 / 18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960120"/>
            <a:ext cx="3931920" cy="3749040"/>
          </a:xfrm>
          <a:prstGeom prst="rect">
            <a:avLst/>
          </a:prstGeom>
          <a:solidFill>
            <a:srgbClr val="FFFFFF"/>
          </a:solidFill>
          <a:ln w="19050">
            <a:solidFill>
              <a:srgbClr val="E5A93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430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3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Hạn chế Hiện tại của Bài tập lớn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155448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Chưa tích hợp CI/CD tự động: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Hiện tại việc thực thi bộ test dựa trên script npm cục bộ, chưa gắn vào GitHub Actions pipeline.
</a:t>
            </a:r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Phụ thuộc vào dữ liệu Seed định danh: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Cần đảm bảo database kiểm thử được reset/seed đúng trạng thái trước khi chạy kịch bản full.
</a:t>
            </a:r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Chưa mở rộng Fuzzing &amp; Load Testing: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Chưa kiểm thử tải lớn (Stress test) và kiểm thử xâm nhập dữ liệu ngẫu nhiên.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663440" y="960120"/>
            <a:ext cx="3931920" cy="3749040"/>
          </a:xfrm>
          <a:prstGeom prst="rect">
            <a:avLst/>
          </a:prstGeom>
          <a:solidFill>
            <a:srgbClr val="FFFFFF"/>
          </a:solidFill>
          <a:ln w="19050">
            <a:solidFill>
              <a:srgbClr val="7B61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11430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3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 Hướng Mở rộng Phát triển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46320" y="155448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0B13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Đưa Bruno CLI vào CI/CD Pipeline: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Tự động kích hoạt `bru run` mỗi khi có Pull Request mới được mở trên Git.
</a:t>
            </a:r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0B13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Xây dựng Báo cáo HTML Tự động: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Tích hợp reporter xuất file báo cáo HTML/JUnit XML chi tiết sau mỗi phiên chạy.
</a:t>
            </a:r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0B13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Mở rộng Fuzzing &amp; Performance Testing: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hợp Bruno với k6 hoặc Locust để đánh giá hiệu năng chịu tải của API LMS.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9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B6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KẾT LUẬN &amp; HƯỚNG PHÁT TRIỂN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80467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B13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Tổng kết Đóng góp Chính của Bài tập lớn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548640" y="4892040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cáo Bài tập lớn: Kiểm thử API tự động với Bruno trên hệ thống LMS   |   Slide 18 / 18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005840"/>
            <a:ext cx="8046720" cy="2377440"/>
          </a:xfrm>
          <a:prstGeom prst="rect">
            <a:avLst/>
          </a:prstGeom>
          <a:solidFill>
            <a:srgbClr val="FFFFFF"/>
          </a:solidFill>
          <a:ln w="19050">
            <a:solidFill>
              <a:srgbClr val="7B61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143000"/>
            <a:ext cx="758952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B13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Quy trình Git-Friendly Workflow hoàn chỉnh: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 lý kịch bản kiểm thử API bằng file plain-text `.bru` trong mã nguồn, tối ưu hóa code review trên Git.
</a:t>
            </a:r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B13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Khả năng Audit &amp; Bảo mật Dữ liệu Cao: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Hoạt động 100% Offline-first, loại bỏ nguy cơ rò rỉ token/secret lên đám mây bên thứ ba.
</a:t>
            </a:r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B13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Bộ Kiểm thử LMS Tự động hóa Bao phủ 100%: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Bao phủ đầy đủ các luồng nghiệp vụ Auth, Course Player, Stripe Webhook, S3 Storage &amp; Edge Cases.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3566160"/>
            <a:ext cx="8046720" cy="1143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5A9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70332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3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CẢM ƠN THẦY/CÔ VÀ CÁC BẠN ĐÃ LẮNG NGHE!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41148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B6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 &amp; A — Thảo luận &amp; Giải đáp thắc mắc bài tập lớn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Kiểm thử API tự động với Bruno trên hệ thống LMS</dc:title>
  <dc:subject>PptxGenJS Presentation</dc:subject>
  <dc:creator>Báo cáo Bài tập lớn - Andv-LMS API Testing</dc:creator>
  <cp:lastModifiedBy>Báo cáo Bài tập lớn - Andv-LMS API Testing</cp:lastModifiedBy>
  <cp:revision>1</cp:revision>
  <dcterms:created xsi:type="dcterms:W3CDTF">2026-07-22T09:07:47Z</dcterms:created>
  <dcterms:modified xsi:type="dcterms:W3CDTF">2026-07-22T09:07:47Z</dcterms:modified>
</cp:coreProperties>
</file>